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4"/>
  </p:notesMasterIdLst>
  <p:sldIdLst>
    <p:sldId id="256" r:id="rId2"/>
    <p:sldId id="258" r:id="rId3"/>
  </p:sldIdLst>
  <p:sldSz cx="64008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0E6"/>
    <a:srgbClr val="7FA9D7"/>
    <a:srgbClr val="9A887A"/>
    <a:srgbClr val="1FA365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55"/>
    <p:restoredTop sz="94487"/>
  </p:normalViewPr>
  <p:slideViewPr>
    <p:cSldViewPr snapToGrid="0">
      <p:cViewPr varScale="1">
        <p:scale>
          <a:sx n="109" d="100"/>
          <a:sy n="109" d="100"/>
        </p:scale>
        <p:origin x="1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CFEC4-4E45-284D-BF69-DE46D4CD8194}" type="datetimeFigureOut">
              <a:rPr lang="en-US" smtClean="0"/>
              <a:t>6/9/25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C351F-76B5-D34F-B325-5C69741F5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15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5760" rtl="0" eaLnBrk="1" latinLnBrk="0" hangingPunct="1">
      <a:defRPr sz="480" kern="1200">
        <a:solidFill>
          <a:schemeClr val="tx1"/>
        </a:solidFill>
        <a:latin typeface="+mn-lt"/>
        <a:ea typeface="+mn-ea"/>
        <a:cs typeface="+mn-cs"/>
      </a:defRPr>
    </a:lvl1pPr>
    <a:lvl2pPr marL="182880" algn="l" defTabSz="365760" rtl="0" eaLnBrk="1" latinLnBrk="0" hangingPunct="1">
      <a:defRPr sz="480" kern="1200">
        <a:solidFill>
          <a:schemeClr val="tx1"/>
        </a:solidFill>
        <a:latin typeface="+mn-lt"/>
        <a:ea typeface="+mn-ea"/>
        <a:cs typeface="+mn-cs"/>
      </a:defRPr>
    </a:lvl2pPr>
    <a:lvl3pPr marL="365760" algn="l" defTabSz="365760" rtl="0" eaLnBrk="1" latinLnBrk="0" hangingPunct="1">
      <a:defRPr sz="480" kern="1200">
        <a:solidFill>
          <a:schemeClr val="tx1"/>
        </a:solidFill>
        <a:latin typeface="+mn-lt"/>
        <a:ea typeface="+mn-ea"/>
        <a:cs typeface="+mn-cs"/>
      </a:defRPr>
    </a:lvl3pPr>
    <a:lvl4pPr marL="548640" algn="l" defTabSz="365760" rtl="0" eaLnBrk="1" latinLnBrk="0" hangingPunct="1">
      <a:defRPr sz="480" kern="1200">
        <a:solidFill>
          <a:schemeClr val="tx1"/>
        </a:solidFill>
        <a:latin typeface="+mn-lt"/>
        <a:ea typeface="+mn-ea"/>
        <a:cs typeface="+mn-cs"/>
      </a:defRPr>
    </a:lvl4pPr>
    <a:lvl5pPr marL="731520" algn="l" defTabSz="365760" rtl="0" eaLnBrk="1" latinLnBrk="0" hangingPunct="1">
      <a:defRPr sz="480" kern="1200">
        <a:solidFill>
          <a:schemeClr val="tx1"/>
        </a:solidFill>
        <a:latin typeface="+mn-lt"/>
        <a:ea typeface="+mn-ea"/>
        <a:cs typeface="+mn-cs"/>
      </a:defRPr>
    </a:lvl5pPr>
    <a:lvl6pPr marL="914400" algn="l" defTabSz="365760" rtl="0" eaLnBrk="1" latinLnBrk="0" hangingPunct="1">
      <a:defRPr sz="480" kern="1200">
        <a:solidFill>
          <a:schemeClr val="tx1"/>
        </a:solidFill>
        <a:latin typeface="+mn-lt"/>
        <a:ea typeface="+mn-ea"/>
        <a:cs typeface="+mn-cs"/>
      </a:defRPr>
    </a:lvl6pPr>
    <a:lvl7pPr marL="1097280" algn="l" defTabSz="365760" rtl="0" eaLnBrk="1" latinLnBrk="0" hangingPunct="1">
      <a:defRPr sz="480" kern="1200">
        <a:solidFill>
          <a:schemeClr val="tx1"/>
        </a:solidFill>
        <a:latin typeface="+mn-lt"/>
        <a:ea typeface="+mn-ea"/>
        <a:cs typeface="+mn-cs"/>
      </a:defRPr>
    </a:lvl7pPr>
    <a:lvl8pPr marL="1280160" algn="l" defTabSz="365760" rtl="0" eaLnBrk="1" latinLnBrk="0" hangingPunct="1">
      <a:defRPr sz="480" kern="1200">
        <a:solidFill>
          <a:schemeClr val="tx1"/>
        </a:solidFill>
        <a:latin typeface="+mn-lt"/>
        <a:ea typeface="+mn-ea"/>
        <a:cs typeface="+mn-cs"/>
      </a:defRPr>
    </a:lvl8pPr>
    <a:lvl9pPr marL="1463040" algn="l" defTabSz="365760" rtl="0" eaLnBrk="1" latinLnBrk="0" hangingPunct="1">
      <a:defRPr sz="4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C351F-76B5-D34F-B325-5C69741F50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20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1047539"/>
            <a:ext cx="5440680" cy="2228427"/>
          </a:xfrm>
        </p:spPr>
        <p:txBody>
          <a:bodyPr anchor="b"/>
          <a:lstStyle>
            <a:lvl1pPr algn="ct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3361902"/>
            <a:ext cx="4800600" cy="1545378"/>
          </a:xfrm>
        </p:spPr>
        <p:txBody>
          <a:bodyPr/>
          <a:lstStyle>
            <a:lvl1pPr marL="0" indent="0" algn="ctr">
              <a:buNone/>
              <a:defRPr sz="1680"/>
            </a:lvl1pPr>
            <a:lvl2pPr marL="320040" indent="0" algn="ctr">
              <a:buNone/>
              <a:defRPr sz="1400"/>
            </a:lvl2pPr>
            <a:lvl3pPr marL="640080" indent="0" algn="ctr">
              <a:buNone/>
              <a:defRPr sz="1260"/>
            </a:lvl3pPr>
            <a:lvl4pPr marL="960120" indent="0" algn="ctr">
              <a:buNone/>
              <a:defRPr sz="1120"/>
            </a:lvl4pPr>
            <a:lvl5pPr marL="1280160" indent="0" algn="ctr">
              <a:buNone/>
              <a:defRPr sz="1120"/>
            </a:lvl5pPr>
            <a:lvl6pPr marL="1600200" indent="0" algn="ctr">
              <a:buNone/>
              <a:defRPr sz="1120"/>
            </a:lvl6pPr>
            <a:lvl7pPr marL="1920240" indent="0" algn="ctr">
              <a:buNone/>
              <a:defRPr sz="1120"/>
            </a:lvl7pPr>
            <a:lvl8pPr marL="2240280" indent="0" algn="ctr">
              <a:buNone/>
              <a:defRPr sz="1120"/>
            </a:lvl8pPr>
            <a:lvl9pPr marL="2560320" indent="0" algn="ctr">
              <a:buNone/>
              <a:defRPr sz="1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784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51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2" y="1595757"/>
            <a:ext cx="5520690" cy="2662555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2" y="4283500"/>
            <a:ext cx="5520690" cy="1400175"/>
          </a:xfrm>
        </p:spPr>
        <p:txBody>
          <a:bodyPr/>
          <a:lstStyle>
            <a:lvl1pPr marL="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1pPr>
            <a:lvl2pPr marL="320040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2pPr>
            <a:lvl3pPr marL="6400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3pPr>
            <a:lvl4pPr marL="96012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4pPr>
            <a:lvl5pPr marL="128016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5pPr>
            <a:lvl6pPr marL="160020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6pPr>
            <a:lvl7pPr marL="192024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7pPr>
            <a:lvl8pPr marL="224028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8pPr>
            <a:lvl9pPr marL="256032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39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1703917"/>
            <a:ext cx="272034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1703917"/>
            <a:ext cx="272034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6/9/25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8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40785"/>
            <a:ext cx="5520690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1569085"/>
            <a:ext cx="2707838" cy="768985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2338070"/>
            <a:ext cx="2707838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1569085"/>
            <a:ext cx="2721174" cy="768985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2338070"/>
            <a:ext cx="2721174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6/9/25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93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6/9/25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66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6/9/25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64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426720"/>
            <a:ext cx="2064425" cy="149352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921598"/>
            <a:ext cx="3240405" cy="4548717"/>
          </a:xfrm>
        </p:spPr>
        <p:txBody>
          <a:bodyPr/>
          <a:lstStyle>
            <a:lvl1pPr>
              <a:defRPr sz="2240"/>
            </a:lvl1pPr>
            <a:lvl2pPr>
              <a:defRPr sz="1960"/>
            </a:lvl2pPr>
            <a:lvl3pPr>
              <a:defRPr sz="168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920240"/>
            <a:ext cx="2064425" cy="3557482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6/9/25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37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426720"/>
            <a:ext cx="2064425" cy="149352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921598"/>
            <a:ext cx="3240405" cy="4548717"/>
          </a:xfrm>
        </p:spPr>
        <p:txBody>
          <a:bodyPr anchor="t"/>
          <a:lstStyle>
            <a:lvl1pPr marL="0" indent="0">
              <a:buNone/>
              <a:defRPr sz="2240"/>
            </a:lvl1pPr>
            <a:lvl2pPr marL="320040" indent="0">
              <a:buNone/>
              <a:defRPr sz="1960"/>
            </a:lvl2pPr>
            <a:lvl3pPr marL="640080" indent="0">
              <a:buNone/>
              <a:defRPr sz="1680"/>
            </a:lvl3pPr>
            <a:lvl4pPr marL="960120" indent="0">
              <a:buNone/>
              <a:defRPr sz="1400"/>
            </a:lvl4pPr>
            <a:lvl5pPr marL="1280160" indent="0">
              <a:buNone/>
              <a:defRPr sz="1400"/>
            </a:lvl5pPr>
            <a:lvl6pPr marL="1600200" indent="0">
              <a:buNone/>
              <a:defRPr sz="1400"/>
            </a:lvl6pPr>
            <a:lvl7pPr marL="1920240" indent="0">
              <a:buNone/>
              <a:defRPr sz="1400"/>
            </a:lvl7pPr>
            <a:lvl8pPr marL="2240280" indent="0">
              <a:buNone/>
              <a:defRPr sz="1400"/>
            </a:lvl8pPr>
            <a:lvl9pPr marL="2560320" indent="0">
              <a:buNone/>
              <a:defRPr sz="1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920240"/>
            <a:ext cx="2064425" cy="3557482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6/9/25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498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877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3" y="340783"/>
            <a:ext cx="1380173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340783"/>
            <a:ext cx="4060508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58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340785"/>
            <a:ext cx="552069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1703917"/>
            <a:ext cx="552069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5932595"/>
            <a:ext cx="144018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653A69-F55D-6944-9B3A-CF37B0944481}" type="datetimeFigureOut">
              <a:rPr lang="en-US" smtClean="0"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5932595"/>
            <a:ext cx="216027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5932595"/>
            <a:ext cx="144018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19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40080" rtl="0" eaLnBrk="1" latinLnBrk="0" hangingPunct="1">
        <a:lnSpc>
          <a:spcPct val="90000"/>
        </a:lnSpc>
        <a:spcBef>
          <a:spcPct val="0"/>
        </a:spcBef>
        <a:buNone/>
        <a:defRPr sz="3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0020" indent="-160020" algn="l" defTabSz="64008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201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76022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20802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7203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200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2402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61F12D4-74BB-9121-CF57-7FE2C623CB11}"/>
              </a:ext>
            </a:extLst>
          </p:cNvPr>
          <p:cNvGrpSpPr/>
          <p:nvPr/>
        </p:nvGrpSpPr>
        <p:grpSpPr>
          <a:xfrm>
            <a:off x="104033" y="157690"/>
            <a:ext cx="6109197" cy="998880"/>
            <a:chOff x="197818" y="480647"/>
            <a:chExt cx="5388225" cy="99888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A83E796-8391-A2BC-5346-ABE78BCF83E2}"/>
                </a:ext>
              </a:extLst>
            </p:cNvPr>
            <p:cNvGrpSpPr/>
            <p:nvPr/>
          </p:nvGrpSpPr>
          <p:grpSpPr>
            <a:xfrm>
              <a:off x="280535" y="604094"/>
              <a:ext cx="5162049" cy="736223"/>
              <a:chOff x="-1055895" y="451694"/>
              <a:chExt cx="5162049" cy="736223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0F2F1E8-AC7D-CD5B-20C9-1F6DE6B28DB9}"/>
                  </a:ext>
                </a:extLst>
              </p:cNvPr>
              <p:cNvSpPr/>
              <p:nvPr/>
            </p:nvSpPr>
            <p:spPr>
              <a:xfrm>
                <a:off x="1222278" y="451694"/>
                <a:ext cx="2883876" cy="260845"/>
              </a:xfrm>
              <a:prstGeom prst="rect">
                <a:avLst/>
              </a:prstGeom>
              <a:solidFill>
                <a:srgbClr val="E8E8E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</a:rPr>
                  <a:t>&lt;</a:t>
                </a:r>
                <a:r>
                  <a:rPr lang="en-US" sz="1000" dirty="0" err="1">
                    <a:solidFill>
                      <a:schemeClr val="tx1"/>
                    </a:solidFill>
                  </a:rPr>
                  <a:t>image_name</a:t>
                </a:r>
                <a:r>
                  <a:rPr lang="en-US" sz="1000" dirty="0">
                    <a:solidFill>
                      <a:schemeClr val="tx1"/>
                    </a:solidFill>
                  </a:rPr>
                  <a:t>&gt;_&lt;</a:t>
                </a:r>
                <a:r>
                  <a:rPr lang="en-US" sz="1000" dirty="0" err="1">
                    <a:solidFill>
                      <a:schemeClr val="tx1"/>
                    </a:solidFill>
                  </a:rPr>
                  <a:t>fragment_name</a:t>
                </a:r>
                <a:r>
                  <a:rPr lang="en-US" sz="1000" dirty="0">
                    <a:solidFill>
                      <a:schemeClr val="tx1"/>
                    </a:solidFill>
                  </a:rPr>
                  <a:t>&gt;_fragments</a:t>
                </a:r>
                <a:r>
                  <a:rPr lang="en-US" sz="1000" baseline="30000" dirty="0">
                    <a:solidFill>
                      <a:schemeClr val="tx1"/>
                    </a:solidFill>
                  </a:rPr>
                  <a:t>2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7A75A08-2726-430F-8A3B-ECBF56EEE653}"/>
                  </a:ext>
                </a:extLst>
              </p:cNvPr>
              <p:cNvSpPr/>
              <p:nvPr/>
            </p:nvSpPr>
            <p:spPr>
              <a:xfrm>
                <a:off x="1525775" y="902368"/>
                <a:ext cx="2531913" cy="260845"/>
              </a:xfrm>
              <a:prstGeom prst="rect">
                <a:avLst/>
              </a:prstGeom>
              <a:solidFill>
                <a:srgbClr val="E8E8E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</a:rPr>
                  <a:t>&lt;</a:t>
                </a:r>
                <a:r>
                  <a:rPr lang="en-US" sz="1000" dirty="0" err="1">
                    <a:solidFill>
                      <a:schemeClr val="tx1"/>
                    </a:solidFill>
                  </a:rPr>
                  <a:t>image_name</a:t>
                </a:r>
                <a:r>
                  <a:rPr lang="en-US" sz="1000" dirty="0">
                    <a:solidFill>
                      <a:schemeClr val="tx1"/>
                    </a:solidFill>
                  </a:rPr>
                  <a:t>&gt;_&lt;</a:t>
                </a:r>
                <a:r>
                  <a:rPr lang="en-US" sz="1000" dirty="0" err="1">
                    <a:solidFill>
                      <a:schemeClr val="tx1"/>
                    </a:solidFill>
                  </a:rPr>
                  <a:t>fragment_name</a:t>
                </a:r>
                <a:r>
                  <a:rPr lang="en-US" sz="1000" dirty="0">
                    <a:solidFill>
                      <a:schemeClr val="tx1"/>
                    </a:solidFill>
                  </a:rPr>
                  <a:t>&gt;_layers</a:t>
                </a:r>
                <a:r>
                  <a:rPr lang="en-US" sz="1000" baseline="30000" dirty="0">
                    <a:solidFill>
                      <a:schemeClr val="tx1"/>
                    </a:solidFill>
                  </a:rPr>
                  <a:t>4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35B261F-5EC9-1934-B2DA-5D8678C18BDB}"/>
                  </a:ext>
                </a:extLst>
              </p:cNvPr>
              <p:cNvSpPr/>
              <p:nvPr/>
            </p:nvSpPr>
            <p:spPr>
              <a:xfrm>
                <a:off x="-1011496" y="460623"/>
                <a:ext cx="1929169" cy="260845"/>
              </a:xfrm>
              <a:prstGeom prst="rect">
                <a:avLst/>
              </a:prstGeom>
              <a:solidFill>
                <a:srgbClr val="FAF0E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</a:rPr>
                  <a:t>subset_&lt;</a:t>
                </a:r>
                <a:r>
                  <a:rPr lang="en-US" sz="1000" dirty="0" err="1">
                    <a:solidFill>
                      <a:schemeClr val="tx1"/>
                    </a:solidFill>
                  </a:rPr>
                  <a:t>subset_name</a:t>
                </a:r>
                <a:r>
                  <a:rPr lang="en-US" sz="1000" dirty="0">
                    <a:solidFill>
                      <a:schemeClr val="tx1"/>
                    </a:solidFill>
                  </a:rPr>
                  <a:t>&gt;</a:t>
                </a:r>
                <a:r>
                  <a:rPr lang="en-US" sz="1000" baseline="30000" dirty="0">
                    <a:solidFill>
                      <a:schemeClr val="tx1"/>
                    </a:solidFill>
                  </a:rPr>
                  <a:t>1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5391D94-4731-2C16-F0F9-4EA9FB1E9BB5}"/>
                  </a:ext>
                </a:extLst>
              </p:cNvPr>
              <p:cNvSpPr/>
              <p:nvPr/>
            </p:nvSpPr>
            <p:spPr>
              <a:xfrm>
                <a:off x="-1055895" y="927072"/>
                <a:ext cx="2389745" cy="260845"/>
              </a:xfrm>
              <a:prstGeom prst="rect">
                <a:avLst/>
              </a:prstGeom>
              <a:solidFill>
                <a:srgbClr val="FAF0E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 err="1">
                    <a:solidFill>
                      <a:schemeClr val="tx1"/>
                    </a:solidFill>
                  </a:rPr>
                  <a:t>corrected_fragments</a:t>
                </a:r>
                <a:r>
                  <a:rPr lang="en-US" sz="1000" dirty="0">
                    <a:solidFill>
                      <a:schemeClr val="tx1"/>
                    </a:solidFill>
                  </a:rPr>
                  <a:t>_&lt;</a:t>
                </a:r>
                <a:r>
                  <a:rPr lang="en-US" sz="1000" dirty="0" err="1">
                    <a:solidFill>
                      <a:schemeClr val="tx1"/>
                    </a:solidFill>
                  </a:rPr>
                  <a:t>subset_name</a:t>
                </a:r>
                <a:r>
                  <a:rPr lang="en-US" sz="1000" dirty="0">
                    <a:solidFill>
                      <a:schemeClr val="tx1"/>
                    </a:solidFill>
                  </a:rPr>
                  <a:t>&gt;</a:t>
                </a:r>
                <a:r>
                  <a:rPr lang="en-US" sz="1000" baseline="30000" dirty="0">
                    <a:solidFill>
                      <a:schemeClr val="tx1"/>
                    </a:solidFill>
                  </a:rPr>
                  <a:t>3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90ABC2B-2988-0EF7-B547-7EB960AB1C14}"/>
                </a:ext>
              </a:extLst>
            </p:cNvPr>
            <p:cNvSpPr/>
            <p:nvPr/>
          </p:nvSpPr>
          <p:spPr>
            <a:xfrm>
              <a:off x="197818" y="480647"/>
              <a:ext cx="5388225" cy="998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5AA88F75-BAC9-5F23-16D0-A67339F4F518}"/>
              </a:ext>
            </a:extLst>
          </p:cNvPr>
          <p:cNvSpPr/>
          <p:nvPr/>
        </p:nvSpPr>
        <p:spPr>
          <a:xfrm>
            <a:off x="2393698" y="1457812"/>
            <a:ext cx="1529865" cy="226270"/>
          </a:xfrm>
          <a:prstGeom prst="rect">
            <a:avLst/>
          </a:prstGeom>
          <a:solidFill>
            <a:srgbClr val="7FA9D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si_mucosa</a:t>
            </a:r>
            <a:endParaRPr lang="en-US" sz="1000" dirty="0">
              <a:solidFill>
                <a:schemeClr val="bg1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E57FBCD-397C-E44F-5968-EB2BDF2EB20D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flipH="1">
            <a:off x="3158631" y="1156570"/>
            <a:ext cx="1" cy="301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2DEFED18-9523-C838-2EE4-7A266BEE3C41}"/>
              </a:ext>
            </a:extLst>
          </p:cNvPr>
          <p:cNvGrpSpPr/>
          <p:nvPr/>
        </p:nvGrpSpPr>
        <p:grpSpPr>
          <a:xfrm>
            <a:off x="104033" y="2013203"/>
            <a:ext cx="6109197" cy="886945"/>
            <a:chOff x="145800" y="3158631"/>
            <a:chExt cx="6109197" cy="88694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0542EA6-24E1-FB1D-7DED-954A9F7E479C}"/>
                </a:ext>
              </a:extLst>
            </p:cNvPr>
            <p:cNvSpPr/>
            <p:nvPr/>
          </p:nvSpPr>
          <p:spPr>
            <a:xfrm>
              <a:off x="961290" y="3324951"/>
              <a:ext cx="4478215" cy="269631"/>
            </a:xfrm>
            <a:prstGeom prst="rect">
              <a:avLst/>
            </a:prstGeom>
            <a:solidFill>
              <a:srgbClr val="E8E8E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&lt;</a:t>
              </a:r>
              <a:r>
                <a:rPr lang="en-US" sz="1000" dirty="0" err="1">
                  <a:solidFill>
                    <a:schemeClr val="tx1"/>
                  </a:solidFill>
                </a:rPr>
                <a:t>image_name</a:t>
              </a:r>
              <a:r>
                <a:rPr lang="en-US" sz="1000" dirty="0">
                  <a:solidFill>
                    <a:schemeClr val="tx1"/>
                  </a:solidFill>
                </a:rPr>
                <a:t>&gt;_&lt;</a:t>
              </a:r>
              <a:r>
                <a:rPr lang="en-US" sz="1000" dirty="0" err="1">
                  <a:solidFill>
                    <a:schemeClr val="tx1"/>
                  </a:solidFill>
                </a:rPr>
                <a:t>fragment_name</a:t>
              </a:r>
              <a:r>
                <a:rPr lang="en-US" sz="1000" dirty="0">
                  <a:solidFill>
                    <a:schemeClr val="tx1"/>
                  </a:solidFill>
                </a:rPr>
                <a:t>&gt;_&lt;</a:t>
              </a:r>
              <a:r>
                <a:rPr lang="en-US" sz="1000" dirty="0" err="1">
                  <a:solidFill>
                    <a:schemeClr val="tx1"/>
                  </a:solidFill>
                </a:rPr>
                <a:t>mucosa_name</a:t>
              </a:r>
              <a:r>
                <a:rPr lang="en-US" sz="1000" dirty="0">
                  <a:solidFill>
                    <a:schemeClr val="tx1"/>
                  </a:solidFill>
                </a:rPr>
                <a:t>&gt;_</a:t>
              </a:r>
              <a:r>
                <a:rPr lang="en-US" sz="1000" dirty="0" err="1">
                  <a:solidFill>
                    <a:schemeClr val="tx1"/>
                  </a:solidFill>
                </a:rPr>
                <a:t>si_mucosa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83C4943-DE61-B03C-112B-7FDE1923D727}"/>
                </a:ext>
              </a:extLst>
            </p:cNvPr>
            <p:cNvSpPr/>
            <p:nvPr/>
          </p:nvSpPr>
          <p:spPr>
            <a:xfrm>
              <a:off x="961290" y="3729398"/>
              <a:ext cx="4478215" cy="269631"/>
            </a:xfrm>
            <a:prstGeom prst="rect">
              <a:avLst/>
            </a:prstGeom>
            <a:solidFill>
              <a:srgbClr val="1FA36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solidFill>
                    <a:schemeClr val="bg1"/>
                  </a:solidFill>
                </a:rPr>
                <a:t>templates_si_mucosa</a:t>
              </a:r>
              <a:r>
                <a:rPr lang="en-US" sz="1000" dirty="0">
                  <a:solidFill>
                    <a:schemeClr val="bg1"/>
                  </a:solidFill>
                </a:rPr>
                <a:t>_&lt;</a:t>
              </a:r>
              <a:r>
                <a:rPr lang="en-US" sz="1000" dirty="0" err="1">
                  <a:solidFill>
                    <a:schemeClr val="bg1"/>
                  </a:solidFill>
                </a:rPr>
                <a:t>subset_name</a:t>
              </a:r>
              <a:r>
                <a:rPr lang="en-US" sz="1000" dirty="0">
                  <a:solidFill>
                    <a:schemeClr val="bg1"/>
                  </a:solidFill>
                </a:rPr>
                <a:t>&gt;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5572E3A-A9B2-6B66-811F-124F1CF2356B}"/>
                </a:ext>
              </a:extLst>
            </p:cNvPr>
            <p:cNvSpPr/>
            <p:nvPr/>
          </p:nvSpPr>
          <p:spPr>
            <a:xfrm>
              <a:off x="145800" y="3158631"/>
              <a:ext cx="6109197" cy="8869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B769CB9-8827-00AA-3521-5CCC6169F8D3}"/>
              </a:ext>
            </a:extLst>
          </p:cNvPr>
          <p:cNvCxnSpPr>
            <a:cxnSpLocks/>
            <a:stCxn id="35" idx="2"/>
            <a:endCxn id="43" idx="0"/>
          </p:cNvCxnSpPr>
          <p:nvPr/>
        </p:nvCxnSpPr>
        <p:spPr>
          <a:xfrm>
            <a:off x="3158631" y="1684082"/>
            <a:ext cx="1" cy="3291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DA09601E-65F9-9B08-054A-1E0A285E8ABB}"/>
              </a:ext>
            </a:extLst>
          </p:cNvPr>
          <p:cNvSpPr/>
          <p:nvPr/>
        </p:nvSpPr>
        <p:spPr>
          <a:xfrm>
            <a:off x="2417141" y="4736389"/>
            <a:ext cx="1529867" cy="269631"/>
          </a:xfrm>
          <a:prstGeom prst="rect">
            <a:avLst/>
          </a:prstGeom>
          <a:solidFill>
            <a:srgbClr val="7FA9D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bg1"/>
                </a:solidFill>
              </a:rPr>
              <a:t>validate_si_mucosa</a:t>
            </a:r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2AFA916-5446-8352-0F3F-4600C7144D05}"/>
              </a:ext>
            </a:extLst>
          </p:cNvPr>
          <p:cNvGrpSpPr/>
          <p:nvPr/>
        </p:nvGrpSpPr>
        <p:grpSpPr>
          <a:xfrm>
            <a:off x="117229" y="3246248"/>
            <a:ext cx="6109197" cy="572598"/>
            <a:chOff x="145800" y="4406778"/>
            <a:chExt cx="6109197" cy="572598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8205E55-9D61-21B3-DA75-313057D5311F}"/>
                </a:ext>
              </a:extLst>
            </p:cNvPr>
            <p:cNvSpPr/>
            <p:nvPr/>
          </p:nvSpPr>
          <p:spPr>
            <a:xfrm>
              <a:off x="145800" y="4406778"/>
              <a:ext cx="6109197" cy="5725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05062AA1-CB73-F98B-7DBA-AD7A004214DA}"/>
                </a:ext>
              </a:extLst>
            </p:cNvPr>
            <p:cNvSpPr/>
            <p:nvPr/>
          </p:nvSpPr>
          <p:spPr>
            <a:xfrm>
              <a:off x="3200397" y="4527310"/>
              <a:ext cx="2239108" cy="265868"/>
            </a:xfrm>
            <a:prstGeom prst="rect">
              <a:avLst/>
            </a:prstGeom>
            <a:solidFill>
              <a:srgbClr val="9A887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solidFill>
                    <a:schemeClr val="bg1"/>
                  </a:solidFill>
                </a:rPr>
                <a:t>import_mucosa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7DCA9E6-EF91-552E-3FDA-D5373AA01608}"/>
                </a:ext>
              </a:extLst>
            </p:cNvPr>
            <p:cNvSpPr/>
            <p:nvPr/>
          </p:nvSpPr>
          <p:spPr>
            <a:xfrm>
              <a:off x="961290" y="4527312"/>
              <a:ext cx="2092587" cy="27327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solidFill>
                    <a:schemeClr val="bg1"/>
                  </a:solidFill>
                </a:rPr>
                <a:t>validate_si_mucosa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EE6FC8E8-A9D5-89E6-4FBC-13263BBA6C88}"/>
              </a:ext>
            </a:extLst>
          </p:cNvPr>
          <p:cNvCxnSpPr>
            <a:cxnSpLocks/>
            <a:stCxn id="43" idx="2"/>
            <a:endCxn id="63" idx="0"/>
          </p:cNvCxnSpPr>
          <p:nvPr/>
        </p:nvCxnSpPr>
        <p:spPr>
          <a:xfrm>
            <a:off x="3158632" y="2900148"/>
            <a:ext cx="13196" cy="346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92CB28E-9A78-09C2-C4EB-290B881E2963}"/>
              </a:ext>
            </a:extLst>
          </p:cNvPr>
          <p:cNvSpPr/>
          <p:nvPr/>
        </p:nvSpPr>
        <p:spPr>
          <a:xfrm>
            <a:off x="942968" y="4152566"/>
            <a:ext cx="4478215" cy="262871"/>
          </a:xfrm>
          <a:prstGeom prst="rect">
            <a:avLst/>
          </a:prstGeom>
          <a:solidFill>
            <a:srgbClr val="1FA3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reviewed_si_mucosa</a:t>
            </a:r>
            <a:r>
              <a:rPr lang="en-US" sz="1000" dirty="0">
                <a:solidFill>
                  <a:schemeClr val="bg1"/>
                </a:solidFill>
              </a:rPr>
              <a:t>_&lt;</a:t>
            </a:r>
            <a:r>
              <a:rPr lang="en-US" sz="1000" dirty="0" err="1">
                <a:solidFill>
                  <a:schemeClr val="bg1"/>
                </a:solidFill>
              </a:rPr>
              <a:t>subset_name</a:t>
            </a:r>
            <a:r>
              <a:rPr lang="en-US" sz="1000" dirty="0">
                <a:solidFill>
                  <a:schemeClr val="bg1"/>
                </a:solidFill>
              </a:rPr>
              <a:t>&gt;</a:t>
            </a: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10CB364-BABD-0F07-E3C1-8F565074653F}"/>
              </a:ext>
            </a:extLst>
          </p:cNvPr>
          <p:cNvCxnSpPr>
            <a:cxnSpLocks/>
            <a:stCxn id="63" idx="2"/>
            <a:endCxn id="141" idx="0"/>
          </p:cNvCxnSpPr>
          <p:nvPr/>
        </p:nvCxnSpPr>
        <p:spPr>
          <a:xfrm>
            <a:off x="3171828" y="3818846"/>
            <a:ext cx="10248" cy="333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16CF6861-662E-95E1-C7B1-AA3001AE4DAE}"/>
              </a:ext>
            </a:extLst>
          </p:cNvPr>
          <p:cNvCxnSpPr>
            <a:cxnSpLocks/>
            <a:stCxn id="141" idx="2"/>
            <a:endCxn id="53" idx="0"/>
          </p:cNvCxnSpPr>
          <p:nvPr/>
        </p:nvCxnSpPr>
        <p:spPr>
          <a:xfrm flipH="1">
            <a:off x="3182075" y="4415437"/>
            <a:ext cx="1" cy="320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98A5A78-9EE0-0BB4-3871-3E408F43C193}"/>
              </a:ext>
            </a:extLst>
          </p:cNvPr>
          <p:cNvSpPr/>
          <p:nvPr/>
        </p:nvSpPr>
        <p:spPr>
          <a:xfrm>
            <a:off x="46887" y="5281971"/>
            <a:ext cx="6270374" cy="4886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1F977467-8087-88B7-8D44-8A4EA39D92BA}"/>
              </a:ext>
            </a:extLst>
          </p:cNvPr>
          <p:cNvSpPr/>
          <p:nvPr/>
        </p:nvSpPr>
        <p:spPr>
          <a:xfrm>
            <a:off x="84249" y="5357696"/>
            <a:ext cx="3074381" cy="2853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Confusion_matrix_si_mucosa</a:t>
            </a:r>
            <a:r>
              <a:rPr lang="en-US" sz="1100" dirty="0">
                <a:solidFill>
                  <a:schemeClr val="tx1"/>
                </a:solidFill>
              </a:rPr>
              <a:t>_&lt;</a:t>
            </a:r>
            <a:r>
              <a:rPr lang="en-US" sz="1100" dirty="0" err="1">
                <a:solidFill>
                  <a:schemeClr val="tx1"/>
                </a:solidFill>
              </a:rPr>
              <a:t>subset_name</a:t>
            </a:r>
            <a:r>
              <a:rPr lang="en-US" sz="1100" dirty="0">
                <a:solidFill>
                  <a:schemeClr val="tx1"/>
                </a:solidFill>
              </a:rPr>
              <a:t>&gt;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A2DE3A9-F7AD-CDBE-AFB9-AEE3FC9EDEB6}"/>
              </a:ext>
            </a:extLst>
          </p:cNvPr>
          <p:cNvSpPr/>
          <p:nvPr/>
        </p:nvSpPr>
        <p:spPr>
          <a:xfrm>
            <a:off x="3336305" y="5357696"/>
            <a:ext cx="2803280" cy="285367"/>
          </a:xfrm>
          <a:prstGeom prst="rect">
            <a:avLst/>
          </a:prstGeom>
          <a:solidFill>
            <a:srgbClr val="FAF0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performance_si_mucosa</a:t>
            </a:r>
            <a:r>
              <a:rPr lang="en-US" sz="1100" dirty="0">
                <a:solidFill>
                  <a:schemeClr val="tx1"/>
                </a:solidFill>
              </a:rPr>
              <a:t>_&lt;</a:t>
            </a:r>
            <a:r>
              <a:rPr lang="en-US" sz="1100" dirty="0" err="1">
                <a:solidFill>
                  <a:schemeClr val="tx1"/>
                </a:solidFill>
              </a:rPr>
              <a:t>subset_name</a:t>
            </a:r>
            <a:r>
              <a:rPr lang="en-US" sz="1100" dirty="0">
                <a:solidFill>
                  <a:schemeClr val="tx1"/>
                </a:solidFill>
              </a:rPr>
              <a:t>&gt;</a:t>
            </a:r>
          </a:p>
        </p:txBody>
      </p: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FE7970BA-5EEE-09F0-6695-1E50A331F446}"/>
              </a:ext>
            </a:extLst>
          </p:cNvPr>
          <p:cNvCxnSpPr>
            <a:stCxn id="53" idx="2"/>
            <a:endCxn id="153" idx="0"/>
          </p:cNvCxnSpPr>
          <p:nvPr/>
        </p:nvCxnSpPr>
        <p:spPr>
          <a:xfrm flipH="1">
            <a:off x="3182074" y="5006020"/>
            <a:ext cx="1" cy="275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171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7B925-2BEA-5F16-67DE-CA2F9B06A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2092C6-9490-8EBD-4530-50F170592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09789"/>
              </p:ext>
            </p:extLst>
          </p:nvPr>
        </p:nvGraphicFramePr>
        <p:xfrm>
          <a:off x="372827" y="2744040"/>
          <a:ext cx="2288311" cy="240574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88311">
                  <a:extLst>
                    <a:ext uri="{9D8B030D-6E8A-4147-A177-3AD203B41FA5}">
                      <a16:colId xmlns:a16="http://schemas.microsoft.com/office/drawing/2014/main" val="268930344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Sources </a:t>
                      </a: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531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640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process_subset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59758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fragments/fragments</a:t>
                      </a: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86129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fragments/</a:t>
                      </a:r>
                      <a:r>
                        <a:rPr lang="en-US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validate_fragments</a:t>
                      </a:r>
                      <a:endParaRPr lang="en-US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03335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640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combos/combos</a:t>
                      </a: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5075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75488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9083D5-0FFD-E4F1-23BD-10B74B9A1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142740"/>
              </p:ext>
            </p:extLst>
          </p:nvPr>
        </p:nvGraphicFramePr>
        <p:xfrm>
          <a:off x="372828" y="127505"/>
          <a:ext cx="5655143" cy="209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7401">
                  <a:extLst>
                    <a:ext uri="{9D8B030D-6E8A-4147-A177-3AD203B41FA5}">
                      <a16:colId xmlns:a16="http://schemas.microsoft.com/office/drawing/2014/main" val="3976407075"/>
                    </a:ext>
                  </a:extLst>
                </a:gridCol>
                <a:gridCol w="1037617">
                  <a:extLst>
                    <a:ext uri="{9D8B030D-6E8A-4147-A177-3AD203B41FA5}">
                      <a16:colId xmlns:a16="http://schemas.microsoft.com/office/drawing/2014/main" val="643897866"/>
                    </a:ext>
                  </a:extLst>
                </a:gridCol>
                <a:gridCol w="1567234">
                  <a:extLst>
                    <a:ext uri="{9D8B030D-6E8A-4147-A177-3AD203B41FA5}">
                      <a16:colId xmlns:a16="http://schemas.microsoft.com/office/drawing/2014/main" val="4240624948"/>
                    </a:ext>
                  </a:extLst>
                </a:gridCol>
                <a:gridCol w="1642891">
                  <a:extLst>
                    <a:ext uri="{9D8B030D-6E8A-4147-A177-3AD203B41FA5}">
                      <a16:colId xmlns:a16="http://schemas.microsoft.com/office/drawing/2014/main" val="343549697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Scripts</a:t>
                      </a: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Files</a:t>
                      </a: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Repos </a:t>
                      </a: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SOPs</a:t>
                      </a: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01527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 markdown</a:t>
                      </a: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A9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json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fe_si_images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qupath</a:t>
                      </a:r>
                      <a:endParaRPr lang="en-US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43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08507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Groovy</a:t>
                      </a: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8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geojson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aiforia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CF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fe_si_models</a:t>
                      </a:r>
                      <a:endParaRPr lang="en-US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78134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xlsx</a:t>
                      </a: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A2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fe_si_models</a:t>
                      </a:r>
                      <a:endParaRPr lang="en-US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78084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txt</a:t>
                      </a: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1859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png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5943" marR="195943" marT="97971" marB="979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965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720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683</TotalTime>
  <Words>163</Words>
  <Application>Microsoft Macintosh PowerPoint</Application>
  <PresentationFormat>Custom</PresentationFormat>
  <Paragraphs>35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Judit Emilia Magnusson Wulcan</dc:creator>
  <cp:lastModifiedBy>Judit Emilia Magnusson Wulcan</cp:lastModifiedBy>
  <cp:revision>13</cp:revision>
  <dcterms:created xsi:type="dcterms:W3CDTF">2025-03-05T23:24:07Z</dcterms:created>
  <dcterms:modified xsi:type="dcterms:W3CDTF">2025-06-10T00:38:20Z</dcterms:modified>
</cp:coreProperties>
</file>