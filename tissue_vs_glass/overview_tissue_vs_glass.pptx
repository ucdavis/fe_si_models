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3"/>
  </p:notesMasterIdLst>
  <p:sldIdLst>
    <p:sldId id="256" r:id="rId2"/>
  </p:sldIdLst>
  <p:sldSz cx="18288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444"/>
  </p:normalViewPr>
  <p:slideViewPr>
    <p:cSldViewPr snapToGrid="0">
      <p:cViewPr varScale="1">
        <p:scale>
          <a:sx n="57" d="100"/>
          <a:sy n="57" d="100"/>
        </p:scale>
        <p:origin x="146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2CFEC4-4E45-284D-BF69-DE46D4CD8194}" type="datetimeFigureOut">
              <a:rPr lang="en-US" smtClean="0"/>
              <a:t>4/22/25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6C351F-76B5-D34F-B325-5C69741F50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715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6C351F-76B5-D34F-B325-5C69741F506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7209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2244726"/>
            <a:ext cx="155448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7204076"/>
            <a:ext cx="13716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609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5112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6" y="3419479"/>
            <a:ext cx="15773400" cy="5705474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6" y="9178929"/>
            <a:ext cx="15773400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391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3651250"/>
            <a:ext cx="77724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3651250"/>
            <a:ext cx="77724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02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730253"/>
            <a:ext cx="15773400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3362326"/>
            <a:ext cx="7736680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5010150"/>
            <a:ext cx="7736680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3362326"/>
            <a:ext cx="7774782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5010150"/>
            <a:ext cx="7774782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354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43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8531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974853"/>
            <a:ext cx="9258300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851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974853"/>
            <a:ext cx="9258300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748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074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730250"/>
            <a:ext cx="3943350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730250"/>
            <a:ext cx="11601450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434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730253"/>
            <a:ext cx="157734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3651250"/>
            <a:ext cx="157734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1271270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653A69-F55D-6944-9B3A-CF37B0944481}" type="datetimeFigureOut">
              <a:rPr lang="en-US" smtClean="0"/>
              <a:t>4/22/25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2712703"/>
            <a:ext cx="61722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1271270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662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9" name="Group 228">
            <a:extLst>
              <a:ext uri="{FF2B5EF4-FFF2-40B4-BE49-F238E27FC236}">
                <a16:creationId xmlns:a16="http://schemas.microsoft.com/office/drawing/2014/main" id="{57FA07DD-1D62-2A9C-438D-53946E0330E0}"/>
              </a:ext>
            </a:extLst>
          </p:cNvPr>
          <p:cNvGrpSpPr/>
          <p:nvPr/>
        </p:nvGrpSpPr>
        <p:grpSpPr>
          <a:xfrm>
            <a:off x="804846" y="485086"/>
            <a:ext cx="16077022" cy="8903076"/>
            <a:chOff x="-175405" y="-112471"/>
            <a:chExt cx="16077022" cy="890307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2A401A0-E229-D184-46FE-8E16FEBDF0F0}"/>
                </a:ext>
              </a:extLst>
            </p:cNvPr>
            <p:cNvSpPr/>
            <p:nvPr/>
          </p:nvSpPr>
          <p:spPr>
            <a:xfrm>
              <a:off x="9122716" y="2715616"/>
              <a:ext cx="6666481" cy="66322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&lt;</a:t>
              </a:r>
              <a:r>
                <a:rPr lang="en-US" dirty="0" err="1">
                  <a:solidFill>
                    <a:schemeClr val="tx1"/>
                  </a:solidFill>
                </a:rPr>
                <a:t>image_name</a:t>
              </a:r>
              <a:r>
                <a:rPr lang="en-US" dirty="0">
                  <a:solidFill>
                    <a:schemeClr val="tx1"/>
                  </a:solidFill>
                </a:rPr>
                <a:t>&gt;_content_&lt;</a:t>
              </a:r>
              <a:r>
                <a:rPr lang="en-US" dirty="0" err="1">
                  <a:solidFill>
                    <a:schemeClr val="tx1"/>
                  </a:solidFill>
                </a:rPr>
                <a:t>annotation_no</a:t>
              </a:r>
              <a:r>
                <a:rPr lang="en-US" dirty="0">
                  <a:solidFill>
                    <a:schemeClr val="tx1"/>
                  </a:solidFill>
                </a:rPr>
                <a:t>&gt;.</a:t>
              </a:r>
              <a:r>
                <a:rPr lang="en-US" dirty="0" err="1">
                  <a:solidFill>
                    <a:schemeClr val="tx1"/>
                  </a:solidFill>
                </a:rPr>
                <a:t>geojson</a:t>
              </a:r>
              <a:r>
                <a:rPr lang="en-US" dirty="0">
                  <a:solidFill>
                    <a:schemeClr val="tx1"/>
                  </a:solidFill>
                </a:rPr>
                <a:t> (</a:t>
              </a:r>
              <a:r>
                <a:rPr lang="en-US" dirty="0" err="1">
                  <a:solidFill>
                    <a:schemeClr val="tx1"/>
                  </a:solidFill>
                </a:rPr>
                <a:t>fe_si_models</a:t>
              </a:r>
              <a:r>
                <a:rPr lang="en-US" dirty="0">
                  <a:solidFill>
                    <a:schemeClr val="tx1"/>
                  </a:solidFill>
                </a:rPr>
                <a:t>/</a:t>
              </a:r>
              <a:r>
                <a:rPr lang="en-US" dirty="0" err="1">
                  <a:solidFill>
                    <a:schemeClr val="tx1"/>
                  </a:solidFill>
                </a:rPr>
                <a:t>content_vs_background</a:t>
              </a:r>
              <a:r>
                <a:rPr lang="en-US" dirty="0">
                  <a:solidFill>
                    <a:schemeClr val="tx1"/>
                  </a:solidFill>
                </a:rPr>
                <a:t>)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25333B3-67D7-CCC6-E98F-DA9268E058DB}"/>
                </a:ext>
              </a:extLst>
            </p:cNvPr>
            <p:cNvSpPr/>
            <p:nvPr/>
          </p:nvSpPr>
          <p:spPr>
            <a:xfrm>
              <a:off x="9030766" y="7523285"/>
              <a:ext cx="6870851" cy="398328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&lt;</a:t>
              </a:r>
              <a:r>
                <a:rPr lang="en-US" dirty="0" err="1">
                  <a:solidFill>
                    <a:schemeClr val="tx1"/>
                  </a:solidFill>
                </a:rPr>
                <a:t>image_name</a:t>
              </a:r>
              <a:r>
                <a:rPr lang="en-US" dirty="0">
                  <a:solidFill>
                    <a:schemeClr val="tx1"/>
                  </a:solidFill>
                </a:rPr>
                <a:t>&gt;_&lt;</a:t>
              </a:r>
              <a:r>
                <a:rPr lang="en-US" dirty="0" err="1">
                  <a:solidFill>
                    <a:schemeClr val="tx1"/>
                  </a:solidFill>
                </a:rPr>
                <a:t>classification_name</a:t>
              </a:r>
              <a:r>
                <a:rPr lang="en-US" dirty="0">
                  <a:solidFill>
                    <a:schemeClr val="tx1"/>
                  </a:solidFill>
                </a:rPr>
                <a:t>&gt;_&lt;</a:t>
              </a:r>
              <a:r>
                <a:rPr lang="en-US" dirty="0" err="1">
                  <a:solidFill>
                    <a:schemeClr val="tx1"/>
                  </a:solidFill>
                </a:rPr>
                <a:t>annotation_no</a:t>
              </a:r>
              <a:r>
                <a:rPr lang="en-US" dirty="0">
                  <a:solidFill>
                    <a:schemeClr val="tx1"/>
                  </a:solidFill>
                </a:rPr>
                <a:t>&gt;.</a:t>
              </a:r>
              <a:r>
                <a:rPr lang="en-US" dirty="0" err="1">
                  <a:solidFill>
                    <a:schemeClr val="tx1"/>
                  </a:solidFill>
                </a:rPr>
                <a:t>geojson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B74EBE1-17EF-C4BC-4293-65B77BC00BC3}"/>
                </a:ext>
              </a:extLst>
            </p:cNvPr>
            <p:cNvSpPr/>
            <p:nvPr/>
          </p:nvSpPr>
          <p:spPr>
            <a:xfrm>
              <a:off x="10615647" y="8392277"/>
              <a:ext cx="3680618" cy="398328"/>
            </a:xfrm>
            <a:prstGeom prst="rect">
              <a:avLst/>
            </a:prstGeom>
            <a:solidFill>
              <a:srgbClr val="7FA9D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validate_tissue_vs_glass</a:t>
              </a:r>
              <a:r>
                <a:rPr lang="en-US" dirty="0">
                  <a:solidFill>
                    <a:schemeClr val="tx1"/>
                  </a:solidFill>
                </a:rPr>
                <a:t> (to do)</a:t>
              </a:r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904B1F9F-935B-FBB8-4F3C-C83B901D392B}"/>
                </a:ext>
              </a:extLst>
            </p:cNvPr>
            <p:cNvGrpSpPr/>
            <p:nvPr/>
          </p:nvGrpSpPr>
          <p:grpSpPr>
            <a:xfrm>
              <a:off x="-175405" y="-112471"/>
              <a:ext cx="10488962" cy="2457444"/>
              <a:chOff x="-156841" y="227794"/>
              <a:chExt cx="10488962" cy="2457444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843770C-9A1B-7441-BD52-7D5F57AFF1CD}"/>
                  </a:ext>
                </a:extLst>
              </p:cNvPr>
              <p:cNvSpPr/>
              <p:nvPr/>
            </p:nvSpPr>
            <p:spPr>
              <a:xfrm>
                <a:off x="-156062" y="707652"/>
                <a:ext cx="10488183" cy="197758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B467601-AB19-2D24-BB84-DA9D61AC6EEF}"/>
                  </a:ext>
                </a:extLst>
              </p:cNvPr>
              <p:cNvSpPr txBox="1"/>
              <p:nvPr/>
            </p:nvSpPr>
            <p:spPr>
              <a:xfrm>
                <a:off x="1878647" y="881038"/>
                <a:ext cx="1117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Scripts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6574E85-697E-6627-AD23-ED9659FF3996}"/>
                  </a:ext>
                </a:extLst>
              </p:cNvPr>
              <p:cNvSpPr txBox="1"/>
              <p:nvPr/>
            </p:nvSpPr>
            <p:spPr>
              <a:xfrm>
                <a:off x="4556779" y="938937"/>
                <a:ext cx="1117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Files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7530896-CD76-43A5-5998-057AE6E5F35C}"/>
                  </a:ext>
                </a:extLst>
              </p:cNvPr>
              <p:cNvSpPr/>
              <p:nvPr/>
            </p:nvSpPr>
            <p:spPr>
              <a:xfrm>
                <a:off x="1860573" y="1797318"/>
                <a:ext cx="1663700" cy="304800"/>
              </a:xfrm>
              <a:prstGeom prst="rect">
                <a:avLst/>
              </a:prstGeom>
              <a:solidFill>
                <a:srgbClr val="7FA9D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R Markdown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5135D63-3D94-843F-5D57-2C7DD445EB1C}"/>
                  </a:ext>
                </a:extLst>
              </p:cNvPr>
              <p:cNvSpPr/>
              <p:nvPr/>
            </p:nvSpPr>
            <p:spPr>
              <a:xfrm>
                <a:off x="1878647" y="1298210"/>
                <a:ext cx="1892300" cy="304800"/>
              </a:xfrm>
              <a:prstGeom prst="rect">
                <a:avLst/>
              </a:prstGeom>
              <a:solidFill>
                <a:srgbClr val="A28F8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Groovy (</a:t>
                </a:r>
                <a:r>
                  <a:rPr lang="en-US" dirty="0" err="1">
                    <a:solidFill>
                      <a:schemeClr val="tx1"/>
                    </a:solidFill>
                  </a:rPr>
                  <a:t>qupath</a:t>
                </a:r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65D58098-2EA5-9A3D-20F4-26ECD1FC63BF}"/>
                  </a:ext>
                </a:extLst>
              </p:cNvPr>
              <p:cNvSpPr/>
              <p:nvPr/>
            </p:nvSpPr>
            <p:spPr>
              <a:xfrm>
                <a:off x="4528074" y="1308269"/>
                <a:ext cx="1409700" cy="3048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geojson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3B6C3C1-BF04-3E8B-0E4B-CC4B2D6D913A}"/>
                  </a:ext>
                </a:extLst>
              </p:cNvPr>
              <p:cNvSpPr txBox="1"/>
              <p:nvPr/>
            </p:nvSpPr>
            <p:spPr>
              <a:xfrm>
                <a:off x="-139008" y="881038"/>
                <a:ext cx="1117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SOPs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2E8BECB-5D0D-64B4-B0BA-52A0726C7253}"/>
                  </a:ext>
                </a:extLst>
              </p:cNvPr>
              <p:cNvSpPr/>
              <p:nvPr/>
            </p:nvSpPr>
            <p:spPr>
              <a:xfrm>
                <a:off x="-38138" y="1304058"/>
                <a:ext cx="1663700" cy="304800"/>
              </a:xfrm>
              <a:prstGeom prst="rect">
                <a:avLst/>
              </a:prstGeom>
              <a:solidFill>
                <a:srgbClr val="FFBA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google slides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5B5D839-82B3-8B67-6E17-7253A5283FA7}"/>
                  </a:ext>
                </a:extLst>
              </p:cNvPr>
              <p:cNvSpPr txBox="1"/>
              <p:nvPr/>
            </p:nvSpPr>
            <p:spPr>
              <a:xfrm>
                <a:off x="-156841" y="227794"/>
                <a:ext cx="1930073" cy="3784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Legend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49DBBE4-0642-14AA-DCA8-AC69636B4A18}"/>
                  </a:ext>
                </a:extLst>
              </p:cNvPr>
              <p:cNvSpPr/>
              <p:nvPr/>
            </p:nvSpPr>
            <p:spPr>
              <a:xfrm>
                <a:off x="4507178" y="1830001"/>
                <a:ext cx="1409700" cy="304800"/>
              </a:xfrm>
              <a:prstGeom prst="rect">
                <a:avLst/>
              </a:prstGeom>
              <a:solidFill>
                <a:srgbClr val="FAF0E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json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31FD751D-A12C-A5DB-B760-6E92B26C2B36}"/>
                </a:ext>
              </a:extLst>
            </p:cNvPr>
            <p:cNvSpPr/>
            <p:nvPr/>
          </p:nvSpPr>
          <p:spPr>
            <a:xfrm>
              <a:off x="441472" y="8379809"/>
              <a:ext cx="6666481" cy="36933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&lt;</a:t>
              </a:r>
              <a:r>
                <a:rPr lang="en-US" dirty="0" err="1">
                  <a:solidFill>
                    <a:schemeClr val="tx1"/>
                  </a:solidFill>
                </a:rPr>
                <a:t>image_name</a:t>
              </a:r>
              <a:r>
                <a:rPr lang="en-US" dirty="0">
                  <a:solidFill>
                    <a:schemeClr val="tx1"/>
                  </a:solidFill>
                </a:rPr>
                <a:t>&gt;_&lt;</a:t>
              </a:r>
              <a:r>
                <a:rPr lang="en-US" dirty="0" err="1">
                  <a:solidFill>
                    <a:schemeClr val="tx1"/>
                  </a:solidFill>
                </a:rPr>
                <a:t>classification_name</a:t>
              </a:r>
              <a:r>
                <a:rPr lang="en-US" dirty="0">
                  <a:solidFill>
                    <a:schemeClr val="tx1"/>
                  </a:solidFill>
                </a:rPr>
                <a:t>&gt;_&lt;</a:t>
              </a:r>
              <a:r>
                <a:rPr lang="en-US" dirty="0" err="1">
                  <a:solidFill>
                    <a:schemeClr val="tx1"/>
                  </a:solidFill>
                </a:rPr>
                <a:t>annotation_no</a:t>
              </a:r>
              <a:r>
                <a:rPr lang="en-US" dirty="0">
                  <a:solidFill>
                    <a:schemeClr val="tx1"/>
                  </a:solidFill>
                </a:rPr>
                <a:t>&gt;.</a:t>
              </a:r>
              <a:r>
                <a:rPr lang="en-US" dirty="0" err="1">
                  <a:solidFill>
                    <a:schemeClr val="tx1"/>
                  </a:solidFill>
                </a:rPr>
                <a:t>geojson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D46361AD-5DEF-65F7-2E37-2671251B8C3B}"/>
                </a:ext>
              </a:extLst>
            </p:cNvPr>
            <p:cNvSpPr/>
            <p:nvPr/>
          </p:nvSpPr>
          <p:spPr>
            <a:xfrm>
              <a:off x="11624106" y="3879683"/>
              <a:ext cx="1663700" cy="304800"/>
            </a:xfrm>
            <a:prstGeom prst="rect">
              <a:avLst/>
            </a:prstGeom>
            <a:solidFill>
              <a:srgbClr val="7FA9D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random_roi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856FAA4-83AE-33B9-516B-50BB91EA60F3}"/>
                </a:ext>
              </a:extLst>
            </p:cNvPr>
            <p:cNvSpPr/>
            <p:nvPr/>
          </p:nvSpPr>
          <p:spPr>
            <a:xfrm>
              <a:off x="10905576" y="4576684"/>
              <a:ext cx="3100760" cy="30480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&lt;</a:t>
              </a:r>
              <a:r>
                <a:rPr lang="en-US" dirty="0" err="1">
                  <a:solidFill>
                    <a:schemeClr val="tx1"/>
                  </a:solidFill>
                </a:rPr>
                <a:t>image_name</a:t>
              </a:r>
              <a:r>
                <a:rPr lang="en-US" dirty="0">
                  <a:solidFill>
                    <a:schemeClr val="tx1"/>
                  </a:solidFill>
                </a:rPr>
                <a:t>&gt;_</a:t>
              </a:r>
              <a:r>
                <a:rPr lang="en-US" dirty="0" err="1">
                  <a:solidFill>
                    <a:schemeClr val="tx1"/>
                  </a:solidFill>
                </a:rPr>
                <a:t>roi.geojson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6C66FFFB-9D2F-1B4D-F2BA-6ABE05B873BF}"/>
                </a:ext>
              </a:extLst>
            </p:cNvPr>
            <p:cNvGrpSpPr/>
            <p:nvPr/>
          </p:nvGrpSpPr>
          <p:grpSpPr>
            <a:xfrm>
              <a:off x="-175405" y="6054054"/>
              <a:ext cx="7900236" cy="1694561"/>
              <a:chOff x="-1006408" y="5993999"/>
              <a:chExt cx="7900236" cy="1694561"/>
            </a:xfrm>
          </p:grpSpPr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B830B5D0-12DD-AD0C-4FDD-6436D0073334}"/>
                  </a:ext>
                </a:extLst>
              </p:cNvPr>
              <p:cNvSpPr/>
              <p:nvPr/>
            </p:nvSpPr>
            <p:spPr>
              <a:xfrm>
                <a:off x="2084798" y="6613201"/>
                <a:ext cx="2899291" cy="359742"/>
              </a:xfrm>
              <a:prstGeom prst="rect">
                <a:avLst/>
              </a:prstGeom>
              <a:solidFill>
                <a:srgbClr val="A28F8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tissue_vs_glass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EAC8C1D-9F8A-34E7-CFA4-8903D1C68E32}"/>
                  </a:ext>
                </a:extLst>
              </p:cNvPr>
              <p:cNvSpPr/>
              <p:nvPr/>
            </p:nvSpPr>
            <p:spPr>
              <a:xfrm>
                <a:off x="2047768" y="7113106"/>
                <a:ext cx="2731005" cy="369332"/>
              </a:xfrm>
              <a:prstGeom prst="rect">
                <a:avLst/>
              </a:prstGeom>
              <a:solidFill>
                <a:srgbClr val="A28F8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export_tissue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B857C2BB-3592-CA58-2668-ADE31B87E70B}"/>
                  </a:ext>
                </a:extLst>
              </p:cNvPr>
              <p:cNvSpPr/>
              <p:nvPr/>
            </p:nvSpPr>
            <p:spPr>
              <a:xfrm>
                <a:off x="-846368" y="6636887"/>
                <a:ext cx="2731004" cy="401264"/>
              </a:xfrm>
              <a:prstGeom prst="rect">
                <a:avLst/>
              </a:prstGeom>
              <a:solidFill>
                <a:srgbClr val="FFBA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run_pixel_classifier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50828228-7E85-1CD8-BA49-BA4DED40451E}"/>
                  </a:ext>
                </a:extLst>
              </p:cNvPr>
              <p:cNvSpPr/>
              <p:nvPr/>
            </p:nvSpPr>
            <p:spPr>
              <a:xfrm>
                <a:off x="-1006408" y="6456964"/>
                <a:ext cx="7900236" cy="123159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DA638E3B-64F5-6DDF-A1ED-B50784529C98}"/>
                  </a:ext>
                </a:extLst>
              </p:cNvPr>
              <p:cNvSpPr txBox="1"/>
              <p:nvPr/>
            </p:nvSpPr>
            <p:spPr>
              <a:xfrm>
                <a:off x="-982429" y="5993999"/>
                <a:ext cx="33449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Run models</a:t>
                </a:r>
              </a:p>
            </p:txBody>
          </p:sp>
        </p:grpSp>
        <p:grpSp>
          <p:nvGrpSpPr>
            <p:cNvPr id="212" name="Group 211">
              <a:extLst>
                <a:ext uri="{FF2B5EF4-FFF2-40B4-BE49-F238E27FC236}">
                  <a16:creationId xmlns:a16="http://schemas.microsoft.com/office/drawing/2014/main" id="{658ED33C-B9E4-F93B-4FE5-0185F62F1F55}"/>
                </a:ext>
              </a:extLst>
            </p:cNvPr>
            <p:cNvGrpSpPr/>
            <p:nvPr/>
          </p:nvGrpSpPr>
          <p:grpSpPr>
            <a:xfrm>
              <a:off x="8694046" y="5641413"/>
              <a:ext cx="4977800" cy="1038076"/>
              <a:chOff x="7275956" y="5433052"/>
              <a:chExt cx="4977800" cy="1038076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21248BB7-C37A-9F12-C353-A88D5C54381C}"/>
                  </a:ext>
                </a:extLst>
              </p:cNvPr>
              <p:cNvSpPr/>
              <p:nvPr/>
            </p:nvSpPr>
            <p:spPr>
              <a:xfrm>
                <a:off x="9924161" y="6101797"/>
                <a:ext cx="2329595" cy="369331"/>
              </a:xfrm>
              <a:prstGeom prst="rect">
                <a:avLst/>
              </a:prstGeom>
              <a:solidFill>
                <a:srgbClr val="A28F8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export_annotated_roi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894DE64C-2135-8F2B-FBED-37DFC5407DD9}"/>
                  </a:ext>
                </a:extLst>
              </p:cNvPr>
              <p:cNvSpPr/>
              <p:nvPr/>
            </p:nvSpPr>
            <p:spPr>
              <a:xfrm>
                <a:off x="7275956" y="5433052"/>
                <a:ext cx="2387009" cy="336511"/>
              </a:xfrm>
              <a:prstGeom prst="rect">
                <a:avLst/>
              </a:prstGeom>
              <a:solidFill>
                <a:srgbClr val="FFBA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annotate_random_roi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4EBAD231-27ED-72E3-EDDA-1B1DA6702A75}"/>
                  </a:ext>
                </a:extLst>
              </p:cNvPr>
              <p:cNvSpPr/>
              <p:nvPr/>
            </p:nvSpPr>
            <p:spPr>
              <a:xfrm>
                <a:off x="10014672" y="5487471"/>
                <a:ext cx="2148574" cy="369331"/>
              </a:xfrm>
              <a:prstGeom prst="rect">
                <a:avLst/>
              </a:prstGeom>
              <a:solidFill>
                <a:srgbClr val="A28F8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import_roi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326E7084-6864-53CE-EAD6-0ED11DA4CCFC}"/>
                </a:ext>
              </a:extLst>
            </p:cNvPr>
            <p:cNvGrpSpPr/>
            <p:nvPr/>
          </p:nvGrpSpPr>
          <p:grpSpPr>
            <a:xfrm>
              <a:off x="-175405" y="2959881"/>
              <a:ext cx="7868878" cy="2847350"/>
              <a:chOff x="-2438044" y="2797987"/>
              <a:chExt cx="7868878" cy="2847350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38350FC7-246E-5F07-A51C-6B1AE3969167}"/>
                  </a:ext>
                </a:extLst>
              </p:cNvPr>
              <p:cNvSpPr/>
              <p:nvPr/>
            </p:nvSpPr>
            <p:spPr>
              <a:xfrm>
                <a:off x="-2420211" y="3372920"/>
                <a:ext cx="7851045" cy="141946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92253113-3B25-6A89-8CF7-ABF9D8FD65C7}"/>
                  </a:ext>
                </a:extLst>
              </p:cNvPr>
              <p:cNvSpPr/>
              <p:nvPr/>
            </p:nvSpPr>
            <p:spPr>
              <a:xfrm>
                <a:off x="-2278004" y="3558074"/>
                <a:ext cx="5049099" cy="356406"/>
              </a:xfrm>
              <a:prstGeom prst="rect">
                <a:avLst/>
              </a:prstGeom>
              <a:solidFill>
                <a:srgbClr val="FFBA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creating_non_random_training_annotations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4576C05-25C8-3D9D-84E8-304B0F9ED69B}"/>
                  </a:ext>
                </a:extLst>
              </p:cNvPr>
              <p:cNvSpPr txBox="1"/>
              <p:nvPr/>
            </p:nvSpPr>
            <p:spPr>
              <a:xfrm>
                <a:off x="-2438044" y="2797987"/>
                <a:ext cx="33449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Create model</a:t>
                </a: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1D2D5B14-4016-1854-EAD2-79DA15C59ADD}"/>
                  </a:ext>
                </a:extLst>
              </p:cNvPr>
              <p:cNvSpPr/>
              <p:nvPr/>
            </p:nvSpPr>
            <p:spPr>
              <a:xfrm>
                <a:off x="-2249656" y="4090557"/>
                <a:ext cx="2660876" cy="403718"/>
              </a:xfrm>
              <a:prstGeom prst="rect">
                <a:avLst/>
              </a:prstGeom>
              <a:solidFill>
                <a:srgbClr val="FFBA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create_pixel_classifier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E5568FE6-7D36-ED39-C39B-825610E00FDD}"/>
                  </a:ext>
                </a:extLst>
              </p:cNvPr>
              <p:cNvSpPr/>
              <p:nvPr/>
            </p:nvSpPr>
            <p:spPr>
              <a:xfrm>
                <a:off x="356370" y="5378005"/>
                <a:ext cx="2297881" cy="267332"/>
              </a:xfrm>
              <a:prstGeom prst="rect">
                <a:avLst/>
              </a:prstGeom>
              <a:solidFill>
                <a:srgbClr val="FAF0E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tissue_vs_glass_v2</a:t>
                </a:r>
              </a:p>
            </p:txBody>
          </p:sp>
          <p:cxnSp>
            <p:nvCxnSpPr>
              <p:cNvPr id="153" name="Straight Arrow Connector 152">
                <a:extLst>
                  <a:ext uri="{FF2B5EF4-FFF2-40B4-BE49-F238E27FC236}">
                    <a16:creationId xmlns:a16="http://schemas.microsoft.com/office/drawing/2014/main" id="{BA9D2BD7-F0FC-6896-E5B9-D88CA936FB26}"/>
                  </a:ext>
                </a:extLst>
              </p:cNvPr>
              <p:cNvCxnSpPr>
                <a:cxnSpLocks/>
                <a:stCxn id="45" idx="2"/>
                <a:endCxn id="150" idx="0"/>
              </p:cNvCxnSpPr>
              <p:nvPr/>
            </p:nvCxnSpPr>
            <p:spPr>
              <a:xfrm flipH="1">
                <a:off x="1505311" y="4792385"/>
                <a:ext cx="1" cy="58562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62" name="Straight Arrow Connector 161">
              <a:extLst>
                <a:ext uri="{FF2B5EF4-FFF2-40B4-BE49-F238E27FC236}">
                  <a16:creationId xmlns:a16="http://schemas.microsoft.com/office/drawing/2014/main" id="{42DED9E1-7078-FE48-1ECD-BF9C0556BBB2}"/>
                </a:ext>
              </a:extLst>
            </p:cNvPr>
            <p:cNvCxnSpPr>
              <a:cxnSpLocks/>
              <a:stCxn id="150" idx="2"/>
              <a:endCxn id="85" idx="0"/>
            </p:cNvCxnSpPr>
            <p:nvPr/>
          </p:nvCxnSpPr>
          <p:spPr>
            <a:xfrm>
              <a:off x="3767950" y="5807231"/>
              <a:ext cx="6763" cy="7097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3DE6A21E-A1FC-1AFB-7BDD-A29A13CA364B}"/>
                </a:ext>
              </a:extLst>
            </p:cNvPr>
            <p:cNvCxnSpPr>
              <a:stCxn id="119" idx="2"/>
              <a:endCxn id="120" idx="0"/>
            </p:cNvCxnSpPr>
            <p:nvPr/>
          </p:nvCxnSpPr>
          <p:spPr>
            <a:xfrm>
              <a:off x="12455956" y="4184483"/>
              <a:ext cx="0" cy="39220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Arrow Connector 213">
              <a:extLst>
                <a:ext uri="{FF2B5EF4-FFF2-40B4-BE49-F238E27FC236}">
                  <a16:creationId xmlns:a16="http://schemas.microsoft.com/office/drawing/2014/main" id="{46110FB2-B643-C9CB-227A-6C1AC4DB8134}"/>
                </a:ext>
              </a:extLst>
            </p:cNvPr>
            <p:cNvCxnSpPr>
              <a:cxnSpLocks/>
              <a:stCxn id="120" idx="2"/>
              <a:endCxn id="72" idx="0"/>
            </p:cNvCxnSpPr>
            <p:nvPr/>
          </p:nvCxnSpPr>
          <p:spPr>
            <a:xfrm>
              <a:off x="12455956" y="4881485"/>
              <a:ext cx="0" cy="5794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Arrow Connector 217">
              <a:extLst>
                <a:ext uri="{FF2B5EF4-FFF2-40B4-BE49-F238E27FC236}">
                  <a16:creationId xmlns:a16="http://schemas.microsoft.com/office/drawing/2014/main" id="{2B26E3AE-D7CD-B4DD-12D4-AD44ABDCC23A}"/>
                </a:ext>
              </a:extLst>
            </p:cNvPr>
            <p:cNvCxnSpPr>
              <a:cxnSpLocks/>
              <a:stCxn id="72" idx="2"/>
              <a:endCxn id="34" idx="0"/>
            </p:cNvCxnSpPr>
            <p:nvPr/>
          </p:nvCxnSpPr>
          <p:spPr>
            <a:xfrm>
              <a:off x="12455956" y="6880423"/>
              <a:ext cx="10236" cy="64286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Arrow Connector 219">
              <a:extLst>
                <a:ext uri="{FF2B5EF4-FFF2-40B4-BE49-F238E27FC236}">
                  <a16:creationId xmlns:a16="http://schemas.microsoft.com/office/drawing/2014/main" id="{E40041B1-9A62-53F4-6CC4-E26FAB1EDAF5}"/>
                </a:ext>
              </a:extLst>
            </p:cNvPr>
            <p:cNvCxnSpPr>
              <a:cxnSpLocks/>
              <a:stCxn id="97" idx="3"/>
              <a:endCxn id="8" idx="1"/>
            </p:cNvCxnSpPr>
            <p:nvPr/>
          </p:nvCxnSpPr>
          <p:spPr>
            <a:xfrm>
              <a:off x="7107953" y="8564476"/>
              <a:ext cx="3507694" cy="2696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Arrow Connector 221">
              <a:extLst>
                <a:ext uri="{FF2B5EF4-FFF2-40B4-BE49-F238E27FC236}">
                  <a16:creationId xmlns:a16="http://schemas.microsoft.com/office/drawing/2014/main" id="{E65835F6-EB8F-68C6-5BA2-09BE9AAC25A8}"/>
                </a:ext>
              </a:extLst>
            </p:cNvPr>
            <p:cNvCxnSpPr>
              <a:cxnSpLocks/>
              <a:stCxn id="34" idx="2"/>
              <a:endCxn id="8" idx="0"/>
            </p:cNvCxnSpPr>
            <p:nvPr/>
          </p:nvCxnSpPr>
          <p:spPr>
            <a:xfrm flipH="1">
              <a:off x="12455956" y="7921613"/>
              <a:ext cx="10236" cy="4706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B735C47-4C63-359E-0E35-5A644A4BD8B1}"/>
              </a:ext>
            </a:extLst>
          </p:cNvPr>
          <p:cNvCxnSpPr>
            <a:cxnSpLocks/>
            <a:stCxn id="85" idx="2"/>
          </p:cNvCxnSpPr>
          <p:nvPr/>
        </p:nvCxnSpPr>
        <p:spPr>
          <a:xfrm>
            <a:off x="4754964" y="8346172"/>
            <a:ext cx="0" cy="6400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2CF745F4-B990-9886-0123-FF5A52BC5CA8}"/>
              </a:ext>
            </a:extLst>
          </p:cNvPr>
          <p:cNvSpPr/>
          <p:nvPr/>
        </p:nvSpPr>
        <p:spPr>
          <a:xfrm>
            <a:off x="9510684" y="6058515"/>
            <a:ext cx="7851045" cy="1419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ECF45F6-F0F4-7D91-2F85-1F5424FA2870}"/>
              </a:ext>
            </a:extLst>
          </p:cNvPr>
          <p:cNvSpPr txBox="1"/>
          <p:nvPr/>
        </p:nvSpPr>
        <p:spPr>
          <a:xfrm>
            <a:off x="9510685" y="5601944"/>
            <a:ext cx="3344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Validate model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A1982890-0315-3644-E0C1-A74768243CE9}"/>
              </a:ext>
            </a:extLst>
          </p:cNvPr>
          <p:cNvCxnSpPr>
            <a:cxnSpLocks/>
            <a:stCxn id="19" idx="2"/>
            <a:endCxn id="119" idx="0"/>
          </p:cNvCxnSpPr>
          <p:nvPr/>
        </p:nvCxnSpPr>
        <p:spPr>
          <a:xfrm flipH="1">
            <a:off x="13436207" y="3976396"/>
            <a:ext cx="1" cy="5008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7171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344</TotalTime>
  <Words>143</Words>
  <Application>Microsoft Macintosh PowerPoint</Application>
  <PresentationFormat>Custom</PresentationFormat>
  <Paragraphs>28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Judit Emilia Magnusson Wulcan</dc:creator>
  <cp:lastModifiedBy>Judit Emilia Magnusson Wulcan</cp:lastModifiedBy>
  <cp:revision>9</cp:revision>
  <dcterms:created xsi:type="dcterms:W3CDTF">2025-03-05T23:24:07Z</dcterms:created>
  <dcterms:modified xsi:type="dcterms:W3CDTF">2025-04-23T00:15:03Z</dcterms:modified>
</cp:coreProperties>
</file>